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1"/>
  </p:sldMasterIdLst>
  <p:sldIdLst>
    <p:sldId id="256" r:id="rId2"/>
    <p:sldId id="257" r:id="rId3"/>
    <p:sldId id="258" r:id="rId4"/>
    <p:sldId id="259" r:id="rId5"/>
    <p:sldId id="260" r:id="rId6"/>
    <p:sldId id="261" r:id="rId7"/>
    <p:sldId id="263" r:id="rId8"/>
    <p:sldId id="262" r:id="rId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p15:clr>
            <a:srgbClr val="A4A3A4"/>
          </p15:clr>
        </p15:guide>
        <p15:guide id="2" pos="192">
          <p15:clr>
            <a:srgbClr val="A4A3A4"/>
          </p15:clr>
        </p15:guide>
        <p15:guide id="3" orient="horz" pos="1080">
          <p15:clr>
            <a:srgbClr val="A4A3A4"/>
          </p15:clr>
        </p15:guide>
      </p15:sldGuideLst>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xmlns=""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0" d="100"/>
          <a:sy n="70" d="100"/>
        </p:scale>
        <p:origin x="536" y="48"/>
      </p:cViewPr>
      <p:guideLst>
        <p:guide orient="horz" pos="792"/>
        <p:guide pos="192"/>
        <p:guide orient="horz" pos="10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22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22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20" Type="http://customschemas.google.com/relationships/presentationmetadata" Target="metadata"/><Relationship Id="rId5" Type="http://schemas.openxmlformats.org/officeDocument/2006/relationships/slide" Target="slides/slide4.xml"/><Relationship Id="rId22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2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341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2771877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p:nvPicPr>
        <p:blipFill rotWithShape="1">
          <a:blip r:embed="rId6">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id="{E153E6A6-60E4-FE14-1CBC-8CC211274D1C}"/>
              </a:ext>
            </a:extLst>
          </p:cNvPr>
          <p:cNvSpPr/>
          <p:nvPr/>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2C7CE881-772B-9023-3054-4B219B75D755}"/>
              </a:ext>
            </a:extLst>
          </p:cNvPr>
          <p:cNvSpPr/>
          <p:nvPr/>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id="{16A7B69A-9B14-87FE-841D-37F0A91D141D}"/>
              </a:ext>
            </a:extLst>
          </p:cNvPr>
          <p:cNvPicPr>
            <a:picLocks noChangeAspect="1"/>
          </p:cNvPicPr>
          <p:nvPr/>
        </p:nvPicPr>
        <p:blipFill rotWithShape="1">
          <a:blip r:embed="rId7">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id="{37B91A16-5D54-2FC0-B0FD-A78085FC1313}"/>
              </a:ext>
            </a:extLst>
          </p:cNvPr>
          <p:cNvSpPr/>
          <p:nvPr/>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687" r:id="rId1"/>
    <p:sldLayoutId id="2147483701" r:id="rId2"/>
    <p:sldLayoutId id="2147483714" r:id="rId3"/>
    <p:sldLayoutId id="2147483727" r:id="rId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freepik.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kaggle.com/datasets/mubashirrahim/wind-power-generation-data-forecasting?select=Location2.csv" TargetMode="Externa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hyperlink" Target="https://github.com/adarigunakaushik2905/Wind_Power_Generation_Forecasting.git"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erson sitting at a desk with a computer&#10;&#10;Description automatically generated">
            <a:extLst>
              <a:ext uri="{FF2B5EF4-FFF2-40B4-BE49-F238E27FC236}">
                <a16:creationId xmlns:a16="http://schemas.microsoft.com/office/drawing/2014/main" id="{07B8740D-C76F-46FC-AEFB-23FB0614DB0C}"/>
              </a:ext>
            </a:extLst>
          </p:cNvPr>
          <p:cNvPicPr>
            <a:picLocks noChangeAspect="1"/>
          </p:cNvPicPr>
          <p:nvPr/>
        </p:nvPicPr>
        <p:blipFill>
          <a:blip r:embed="rId2"/>
          <a:stretch>
            <a:fillRect/>
          </a:stretch>
        </p:blipFill>
        <p:spPr>
          <a:xfrm>
            <a:off x="0" y="0"/>
            <a:ext cx="12192000" cy="6858000"/>
          </a:xfrm>
          <a:prstGeom prst="rect">
            <a:avLst/>
          </a:prstGeom>
        </p:spPr>
      </p:pic>
      <p:sp>
        <p:nvSpPr>
          <p:cNvPr id="4" name="Rectangle: Rounded Corners 3">
            <a:extLst>
              <a:ext uri="{FF2B5EF4-FFF2-40B4-BE49-F238E27FC236}">
                <a16:creationId xmlns:a16="http://schemas.microsoft.com/office/drawing/2014/main" id="{C1857762-AD52-483C-B3E1-635C5BBC6F2F}"/>
              </a:ext>
            </a:extLst>
          </p:cNvPr>
          <p:cNvSpPr/>
          <p:nvPr/>
        </p:nvSpPr>
        <p:spPr>
          <a:xfrm>
            <a:off x="5873750" y="584200"/>
            <a:ext cx="4673600"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D5067E9C-C7B9-4476-9708-CBB3F66FD892}"/>
              </a:ext>
            </a:extLst>
          </p:cNvPr>
          <p:cNvSpPr txBox="1"/>
          <p:nvPr/>
        </p:nvSpPr>
        <p:spPr>
          <a:xfrm>
            <a:off x="4775119" y="2146300"/>
            <a:ext cx="6870861" cy="3539430"/>
          </a:xfrm>
          <a:prstGeom prst="rect">
            <a:avLst/>
          </a:prstGeom>
          <a:noFill/>
        </p:spPr>
        <p:txBody>
          <a:bodyPr wrap="square" rtlCol="0">
            <a:spAutoFit/>
          </a:bodyPr>
          <a:lstStyle/>
          <a:p>
            <a:r>
              <a:rPr lang="en-IN" sz="3200" b="1" dirty="0">
                <a:solidFill>
                  <a:schemeClr val="bg1"/>
                </a:solidFill>
              </a:rPr>
              <a:t>Wind Power Generation Forecasting</a:t>
            </a:r>
            <a:br>
              <a:rPr lang="en-IN" sz="3200" b="1" dirty="0">
                <a:solidFill>
                  <a:schemeClr val="bg1"/>
                </a:solidFill>
              </a:rPr>
            </a:br>
            <a:br>
              <a:rPr lang="en-IN" sz="3200" b="1" dirty="0">
                <a:solidFill>
                  <a:schemeClr val="bg1"/>
                </a:solidFill>
              </a:rPr>
            </a:br>
            <a:br>
              <a:rPr lang="en-IN" sz="3200" b="1" dirty="0">
                <a:solidFill>
                  <a:schemeClr val="bg1"/>
                </a:solidFill>
              </a:rPr>
            </a:br>
            <a:r>
              <a:rPr lang="en-IN" sz="3200" b="1" dirty="0">
                <a:solidFill>
                  <a:schemeClr val="bg1"/>
                </a:solidFill>
              </a:rPr>
              <a:t>NAME: ADARI GUNA KAUSHIK</a:t>
            </a:r>
            <a:br>
              <a:rPr lang="en-IN" sz="3200" b="1" dirty="0">
                <a:solidFill>
                  <a:schemeClr val="bg1"/>
                </a:solidFill>
              </a:rPr>
            </a:br>
            <a:br>
              <a:rPr lang="en-IN" sz="3200" b="1" dirty="0">
                <a:solidFill>
                  <a:schemeClr val="bg1"/>
                </a:solidFill>
              </a:rPr>
            </a:br>
            <a:r>
              <a:rPr lang="en-IN" sz="2800" b="1" i="0" dirty="0">
                <a:solidFill>
                  <a:schemeClr val="bg1"/>
                </a:solidFill>
                <a:effectLst/>
                <a:latin typeface="Helvetica Neue"/>
              </a:rPr>
              <a:t>ID : STU6739cbdbc7cd91731840987</a:t>
            </a:r>
            <a:endParaRPr lang="en-IN" sz="3200" b="1" dirty="0">
              <a:solidFill>
                <a:schemeClr val="bg1"/>
              </a:solidFill>
            </a:endParaRPr>
          </a:p>
        </p:txBody>
      </p:sp>
      <p:grpSp>
        <p:nvGrpSpPr>
          <p:cNvPr id="6" name="Group 5">
            <a:extLst>
              <a:ext uri="{FF2B5EF4-FFF2-40B4-BE49-F238E27FC236}">
                <a16:creationId xmlns:a16="http://schemas.microsoft.com/office/drawing/2014/main" id="{D7224A59-2417-428A-A991-E468431BB817}"/>
              </a:ext>
            </a:extLst>
          </p:cNvPr>
          <p:cNvGrpSpPr/>
          <p:nvPr/>
        </p:nvGrpSpPr>
        <p:grpSpPr>
          <a:xfrm>
            <a:off x="6890523" y="742091"/>
            <a:ext cx="2640053" cy="664378"/>
            <a:chOff x="2375536" y="1112060"/>
            <a:chExt cx="3292636" cy="828603"/>
          </a:xfrm>
        </p:grpSpPr>
        <p:pic>
          <p:nvPicPr>
            <p:cNvPr id="7" name="Picture 6" descr="A close up of a logo&#10;&#10;Description automatically generated">
              <a:extLst>
                <a:ext uri="{FF2B5EF4-FFF2-40B4-BE49-F238E27FC236}">
                  <a16:creationId xmlns:a16="http://schemas.microsoft.com/office/drawing/2014/main" id="{BD3530AF-9771-470E-A9BF-F28AA22753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2781" y="1270168"/>
              <a:ext cx="1575391" cy="512386"/>
            </a:xfrm>
            <a:prstGeom prst="rect">
              <a:avLst/>
            </a:prstGeom>
          </p:spPr>
        </p:pic>
        <p:pic>
          <p:nvPicPr>
            <p:cNvPr id="8" name="Picture 7" descr="A yellow and red shell logo&#10;&#10;Description automatically generated">
              <a:extLst>
                <a:ext uri="{FF2B5EF4-FFF2-40B4-BE49-F238E27FC236}">
                  <a16:creationId xmlns:a16="http://schemas.microsoft.com/office/drawing/2014/main" id="{75E6A819-9F3F-4787-A707-A7415C302BFA}"/>
                </a:ext>
              </a:extLst>
            </p:cNvPr>
            <p:cNvPicPr>
              <a:picLocks noChangeAspect="1"/>
            </p:cNvPicPr>
            <p:nvPr/>
          </p:nvPicPr>
          <p:blipFill>
            <a:blip r:embed="rId4"/>
            <a:stretch>
              <a:fillRect/>
            </a:stretch>
          </p:blipFill>
          <p:spPr>
            <a:xfrm>
              <a:off x="2375536" y="1112060"/>
              <a:ext cx="985475" cy="828603"/>
            </a:xfrm>
            <a:prstGeom prst="rect">
              <a:avLst/>
            </a:prstGeom>
          </p:spPr>
        </p:pic>
      </p:grpSp>
    </p:spTree>
    <p:extLst>
      <p:ext uri="{BB962C8B-B14F-4D97-AF65-F5344CB8AC3E}">
        <p14:creationId xmlns:p14="http://schemas.microsoft.com/office/powerpoint/2010/main" val="367127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94E319-C77C-49E2-964C-6E125D716194}"/>
              </a:ext>
            </a:extLst>
          </p:cNvPr>
          <p:cNvSpPr txBox="1"/>
          <p:nvPr/>
        </p:nvSpPr>
        <p:spPr>
          <a:xfrm>
            <a:off x="191911" y="972537"/>
            <a:ext cx="2652889" cy="707886"/>
          </a:xfrm>
          <a:prstGeom prst="rect">
            <a:avLst/>
          </a:prstGeom>
          <a:noFill/>
        </p:spPr>
        <p:txBody>
          <a:bodyPr wrap="square">
            <a:spAutoFit/>
          </a:bodyPr>
          <a:lstStyle/>
          <a:p>
            <a:r>
              <a:rPr lang="en-IN" sz="2000" b="1" dirty="0">
                <a:solidFill>
                  <a:srgbClr val="213163"/>
                </a:solidFill>
              </a:rPr>
              <a:t>Learning Objectives</a:t>
            </a:r>
          </a:p>
          <a:p>
            <a:endParaRPr lang="en-IN" sz="2000" dirty="0">
              <a:solidFill>
                <a:srgbClr val="213163"/>
              </a:solidFill>
            </a:endParaRPr>
          </a:p>
        </p:txBody>
      </p:sp>
      <p:sp>
        <p:nvSpPr>
          <p:cNvPr id="3" name="TextBox 2">
            <a:extLst>
              <a:ext uri="{FF2B5EF4-FFF2-40B4-BE49-F238E27FC236}">
                <a16:creationId xmlns:a16="http://schemas.microsoft.com/office/drawing/2014/main" id="{8E1F3497-5370-4874-9908-5AD45214E10B}"/>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4" name="TextBox 3">
            <a:extLst>
              <a:ext uri="{FF2B5EF4-FFF2-40B4-BE49-F238E27FC236}">
                <a16:creationId xmlns:a16="http://schemas.microsoft.com/office/drawing/2014/main" id="{ECE830DD-8813-42EB-B27B-B7D85423D0C7}"/>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2">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5" name="Straight Connector 4">
            <a:extLst>
              <a:ext uri="{FF2B5EF4-FFF2-40B4-BE49-F238E27FC236}">
                <a16:creationId xmlns:a16="http://schemas.microsoft.com/office/drawing/2014/main" id="{CA22F707-7F22-48A3-97EC-98EFB1023A55}"/>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ladder leading to a large yellow circle&#10;&#10;Description automatically generated">
            <a:extLst>
              <a:ext uri="{FF2B5EF4-FFF2-40B4-BE49-F238E27FC236}">
                <a16:creationId xmlns:a16="http://schemas.microsoft.com/office/drawing/2014/main" id="{E2920B14-B344-4926-9729-BC7EBD91FF9A}"/>
              </a:ext>
            </a:extLst>
          </p:cNvPr>
          <p:cNvPicPr>
            <a:picLocks noChangeAspect="1"/>
          </p:cNvPicPr>
          <p:nvPr/>
        </p:nvPicPr>
        <p:blipFill rotWithShape="1">
          <a:blip r:embed="rId3">
            <a:alphaModFix amt="85000"/>
          </a:blip>
          <a:srcRect l="13763" t="6135" r="13650"/>
          <a:stretch/>
        </p:blipFill>
        <p:spPr>
          <a:xfrm>
            <a:off x="7340600" y="1565148"/>
            <a:ext cx="4500880" cy="4632960"/>
          </a:xfrm>
          <a:prstGeom prst="rect">
            <a:avLst/>
          </a:prstGeom>
        </p:spPr>
      </p:pic>
      <p:sp>
        <p:nvSpPr>
          <p:cNvPr id="7" name="TextBox 6">
            <a:extLst>
              <a:ext uri="{FF2B5EF4-FFF2-40B4-BE49-F238E27FC236}">
                <a16:creationId xmlns:a16="http://schemas.microsoft.com/office/drawing/2014/main" id="{6C264928-EACB-4739-BDDA-6799C99356F3}"/>
              </a:ext>
            </a:extLst>
          </p:cNvPr>
          <p:cNvSpPr txBox="1"/>
          <p:nvPr/>
        </p:nvSpPr>
        <p:spPr>
          <a:xfrm>
            <a:off x="8839200" y="3168609"/>
            <a:ext cx="1503681" cy="630942"/>
          </a:xfrm>
          <a:prstGeom prst="rect">
            <a:avLst/>
          </a:prstGeom>
          <a:noFill/>
        </p:spPr>
        <p:txBody>
          <a:bodyPr wrap="square" rtlCol="0">
            <a:spAutoFit/>
          </a:bodyPr>
          <a:lstStyle/>
          <a:p>
            <a:pPr>
              <a:spcAft>
                <a:spcPts val="800"/>
              </a:spcAft>
            </a:pPr>
            <a:r>
              <a:rPr lang="en-IN" sz="3500" b="1" dirty="0">
                <a:solidFill>
                  <a:schemeClr val="tx1"/>
                </a:solidFill>
                <a:latin typeface="+mn-lt"/>
              </a:rPr>
              <a:t>GOAL</a:t>
            </a:r>
          </a:p>
        </p:txBody>
      </p:sp>
      <p:sp>
        <p:nvSpPr>
          <p:cNvPr id="13" name="Rectangle 3">
            <a:extLst>
              <a:ext uri="{FF2B5EF4-FFF2-40B4-BE49-F238E27FC236}">
                <a16:creationId xmlns:a16="http://schemas.microsoft.com/office/drawing/2014/main" id="{C92DBFFD-459D-4939-9237-97C4D5DAE71C}"/>
              </a:ext>
            </a:extLst>
          </p:cNvPr>
          <p:cNvSpPr>
            <a:spLocks noChangeArrowheads="1"/>
          </p:cNvSpPr>
          <p:nvPr/>
        </p:nvSpPr>
        <p:spPr bwMode="auto">
          <a:xfrm>
            <a:off x="1366355" y="1500668"/>
            <a:ext cx="3876369" cy="44550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1" i="0" u="none" strike="noStrike" cap="none" normalizeH="0" baseline="0" dirty="0">
                <a:ln>
                  <a:noFill/>
                </a:ln>
                <a:solidFill>
                  <a:schemeClr val="tx1"/>
                </a:solidFill>
                <a:effectLst/>
                <a:latin typeface="Arial" panose="020B0604020202020204" pitchFamily="34" charset="0"/>
              </a:rPr>
              <a:t>Predict Future Wind Energy Output</a:t>
            </a:r>
            <a:br>
              <a:rPr kumimoji="0" lang="en-US" altLang="en-US" sz="1050" b="0" i="0" u="none" strike="noStrike" cap="none" normalizeH="0" baseline="0" dirty="0">
                <a:ln>
                  <a:noFill/>
                </a:ln>
                <a:solidFill>
                  <a:schemeClr val="tx1"/>
                </a:solidFill>
                <a:effectLst/>
                <a:latin typeface="Arial" panose="020B0604020202020204" pitchFamily="34" charset="0"/>
              </a:rPr>
            </a:br>
            <a:r>
              <a:rPr kumimoji="0" lang="en-US" altLang="en-US" sz="1050" b="0" i="0" u="none" strike="noStrike" cap="none" normalizeH="0" baseline="0" dirty="0">
                <a:ln>
                  <a:noFill/>
                </a:ln>
                <a:solidFill>
                  <a:schemeClr val="tx1"/>
                </a:solidFill>
                <a:effectLst/>
                <a:latin typeface="Arial" panose="020B0604020202020204" pitchFamily="34" charset="0"/>
              </a:rPr>
              <a:t>Estimate power generation from wind turbines for upcoming hours, days, or weeks.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1" i="0" u="none" strike="noStrike" cap="none" normalizeH="0" baseline="0" dirty="0">
                <a:ln>
                  <a:noFill/>
                </a:ln>
                <a:solidFill>
                  <a:schemeClr val="tx1"/>
                </a:solidFill>
                <a:effectLst/>
                <a:latin typeface="Arial" panose="020B0604020202020204" pitchFamily="34" charset="0"/>
              </a:rPr>
              <a:t>Enhance Grid Stability</a:t>
            </a:r>
            <a:br>
              <a:rPr kumimoji="0" lang="en-US" altLang="en-US" sz="1050" b="0" i="0" u="none" strike="noStrike" cap="none" normalizeH="0" baseline="0" dirty="0">
                <a:ln>
                  <a:noFill/>
                </a:ln>
                <a:solidFill>
                  <a:schemeClr val="tx1"/>
                </a:solidFill>
                <a:effectLst/>
                <a:latin typeface="Arial" panose="020B0604020202020204" pitchFamily="34" charset="0"/>
              </a:rPr>
            </a:br>
            <a:r>
              <a:rPr kumimoji="0" lang="en-US" altLang="en-US" sz="1050" b="0" i="0" u="none" strike="noStrike" cap="none" normalizeH="0" baseline="0" dirty="0">
                <a:ln>
                  <a:noFill/>
                </a:ln>
                <a:solidFill>
                  <a:schemeClr val="tx1"/>
                </a:solidFill>
                <a:effectLst/>
                <a:latin typeface="Arial" panose="020B0604020202020204" pitchFamily="34" charset="0"/>
              </a:rPr>
              <a:t>Provide accurate forecasts to maintain balance between electricity demand and supply.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1" i="0" u="none" strike="noStrike" cap="none" normalizeH="0" baseline="0" dirty="0">
                <a:ln>
                  <a:noFill/>
                </a:ln>
                <a:solidFill>
                  <a:schemeClr val="tx1"/>
                </a:solidFill>
                <a:effectLst/>
                <a:latin typeface="Arial" panose="020B0604020202020204" pitchFamily="34" charset="0"/>
              </a:rPr>
              <a:t>Optimize Energy Storage Usage</a:t>
            </a:r>
            <a:br>
              <a:rPr kumimoji="0" lang="en-US" altLang="en-US" sz="1050" b="0" i="0" u="none" strike="noStrike" cap="none" normalizeH="0" baseline="0" dirty="0">
                <a:ln>
                  <a:noFill/>
                </a:ln>
                <a:solidFill>
                  <a:schemeClr val="tx1"/>
                </a:solidFill>
                <a:effectLst/>
                <a:latin typeface="Arial" panose="020B0604020202020204" pitchFamily="34" charset="0"/>
              </a:rPr>
            </a:br>
            <a:r>
              <a:rPr kumimoji="0" lang="en-US" altLang="en-US" sz="1050" b="0" i="0" u="none" strike="noStrike" cap="none" normalizeH="0" baseline="0" dirty="0">
                <a:ln>
                  <a:noFill/>
                </a:ln>
                <a:solidFill>
                  <a:schemeClr val="tx1"/>
                </a:solidFill>
                <a:effectLst/>
                <a:latin typeface="Arial" panose="020B0604020202020204" pitchFamily="34" charset="0"/>
              </a:rPr>
              <a:t>Help determine when to charge or discharge batteries based on expected wind power.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1" i="0" u="none" strike="noStrike" cap="none" normalizeH="0" baseline="0" dirty="0">
                <a:ln>
                  <a:noFill/>
                </a:ln>
                <a:solidFill>
                  <a:schemeClr val="tx1"/>
                </a:solidFill>
                <a:effectLst/>
                <a:latin typeface="Arial" panose="020B0604020202020204" pitchFamily="34" charset="0"/>
              </a:rPr>
              <a:t>Support Power Trading &amp; Market Operations</a:t>
            </a:r>
            <a:br>
              <a:rPr kumimoji="0" lang="en-US" altLang="en-US" sz="1050" b="0" i="0" u="none" strike="noStrike" cap="none" normalizeH="0" baseline="0" dirty="0">
                <a:ln>
                  <a:noFill/>
                </a:ln>
                <a:solidFill>
                  <a:schemeClr val="tx1"/>
                </a:solidFill>
                <a:effectLst/>
                <a:latin typeface="Arial" panose="020B0604020202020204" pitchFamily="34" charset="0"/>
              </a:rPr>
            </a:br>
            <a:r>
              <a:rPr kumimoji="0" lang="en-US" altLang="en-US" sz="1050" b="0" i="0" u="none" strike="noStrike" cap="none" normalizeH="0" baseline="0" dirty="0">
                <a:ln>
                  <a:noFill/>
                </a:ln>
                <a:solidFill>
                  <a:schemeClr val="tx1"/>
                </a:solidFill>
                <a:effectLst/>
                <a:latin typeface="Arial" panose="020B0604020202020204" pitchFamily="34" charset="0"/>
              </a:rPr>
              <a:t>Assist energy providers in planning and bidding efficiently in electricity markets.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1" i="0" u="none" strike="noStrike" cap="none" normalizeH="0" baseline="0" dirty="0">
                <a:ln>
                  <a:noFill/>
                </a:ln>
                <a:solidFill>
                  <a:schemeClr val="tx1"/>
                </a:solidFill>
                <a:effectLst/>
                <a:latin typeface="Arial" panose="020B0604020202020204" pitchFamily="34" charset="0"/>
              </a:rPr>
              <a:t>Reduce Operational Costs</a:t>
            </a:r>
            <a:br>
              <a:rPr kumimoji="0" lang="en-US" altLang="en-US" sz="1050" b="0" i="0" u="none" strike="noStrike" cap="none" normalizeH="0" baseline="0" dirty="0">
                <a:ln>
                  <a:noFill/>
                </a:ln>
                <a:solidFill>
                  <a:schemeClr val="tx1"/>
                </a:solidFill>
                <a:effectLst/>
                <a:latin typeface="Arial" panose="020B0604020202020204" pitchFamily="34" charset="0"/>
              </a:rPr>
            </a:br>
            <a:r>
              <a:rPr kumimoji="0" lang="en-US" altLang="en-US" sz="1050" b="0" i="0" u="none" strike="noStrike" cap="none" normalizeH="0" baseline="0" dirty="0">
                <a:ln>
                  <a:noFill/>
                </a:ln>
                <a:solidFill>
                  <a:schemeClr val="tx1"/>
                </a:solidFill>
                <a:effectLst/>
                <a:latin typeface="Arial" panose="020B0604020202020204" pitchFamily="34" charset="0"/>
              </a:rPr>
              <a:t>Avoid unnecessary spinning reserves or backup generation through better planning.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1" i="0" u="none" strike="noStrike" cap="none" normalizeH="0" baseline="0" dirty="0">
                <a:ln>
                  <a:noFill/>
                </a:ln>
                <a:solidFill>
                  <a:schemeClr val="tx1"/>
                </a:solidFill>
                <a:effectLst/>
                <a:latin typeface="Arial" panose="020B0604020202020204" pitchFamily="34" charset="0"/>
              </a:rPr>
              <a:t>Minimize Renewable Curtailment</a:t>
            </a:r>
            <a:br>
              <a:rPr kumimoji="0" lang="en-US" altLang="en-US" sz="1050" b="0" i="0" u="none" strike="noStrike" cap="none" normalizeH="0" baseline="0" dirty="0">
                <a:ln>
                  <a:noFill/>
                </a:ln>
                <a:solidFill>
                  <a:schemeClr val="tx1"/>
                </a:solidFill>
                <a:effectLst/>
                <a:latin typeface="Arial" panose="020B0604020202020204" pitchFamily="34" charset="0"/>
              </a:rPr>
            </a:br>
            <a:r>
              <a:rPr kumimoji="0" lang="en-US" altLang="en-US" sz="1050" b="0" i="0" u="none" strike="noStrike" cap="none" normalizeH="0" baseline="0" dirty="0">
                <a:ln>
                  <a:noFill/>
                </a:ln>
                <a:solidFill>
                  <a:schemeClr val="tx1"/>
                </a:solidFill>
                <a:effectLst/>
                <a:latin typeface="Arial" panose="020B0604020202020204" pitchFamily="34" charset="0"/>
              </a:rPr>
              <a:t>Improve the integration of wind energy into the grid, reducing wasted green power.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1" i="0" u="none" strike="noStrike" cap="none" normalizeH="0" baseline="0" dirty="0">
                <a:ln>
                  <a:noFill/>
                </a:ln>
                <a:solidFill>
                  <a:schemeClr val="tx1"/>
                </a:solidFill>
                <a:effectLst/>
                <a:latin typeface="Arial" panose="020B0604020202020204" pitchFamily="34" charset="0"/>
              </a:rPr>
              <a:t>Improve Maintenance Scheduling</a:t>
            </a:r>
            <a:br>
              <a:rPr kumimoji="0" lang="en-US" altLang="en-US" sz="1050" b="0" i="0" u="none" strike="noStrike" cap="none" normalizeH="0" baseline="0" dirty="0">
                <a:ln>
                  <a:noFill/>
                </a:ln>
                <a:solidFill>
                  <a:schemeClr val="tx1"/>
                </a:solidFill>
                <a:effectLst/>
                <a:latin typeface="Arial" panose="020B0604020202020204" pitchFamily="34" charset="0"/>
              </a:rPr>
            </a:br>
            <a:r>
              <a:rPr kumimoji="0" lang="en-US" altLang="en-US" sz="1050" b="0" i="0" u="none" strike="noStrike" cap="none" normalizeH="0" baseline="0" dirty="0">
                <a:ln>
                  <a:noFill/>
                </a:ln>
                <a:solidFill>
                  <a:schemeClr val="tx1"/>
                </a:solidFill>
                <a:effectLst/>
                <a:latin typeface="Arial" panose="020B0604020202020204" pitchFamily="34" charset="0"/>
              </a:rPr>
              <a:t>Schedule turbine servicing during predicted low-wind periods to avoid energy loss.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1" i="0" u="none" strike="noStrike" cap="none" normalizeH="0" baseline="0" dirty="0">
                <a:ln>
                  <a:noFill/>
                </a:ln>
                <a:solidFill>
                  <a:schemeClr val="tx1"/>
                </a:solidFill>
                <a:effectLst/>
                <a:latin typeface="Arial" panose="020B0604020202020204" pitchFamily="34" charset="0"/>
              </a:rPr>
              <a:t>Enable Smart Grid Operations</a:t>
            </a:r>
            <a:br>
              <a:rPr kumimoji="0" lang="en-US" altLang="en-US" sz="1050" b="0" i="0" u="none" strike="noStrike" cap="none" normalizeH="0" baseline="0" dirty="0">
                <a:ln>
                  <a:noFill/>
                </a:ln>
                <a:solidFill>
                  <a:schemeClr val="tx1"/>
                </a:solidFill>
                <a:effectLst/>
                <a:latin typeface="Arial" panose="020B0604020202020204" pitchFamily="34" charset="0"/>
              </a:rPr>
            </a:br>
            <a:r>
              <a:rPr kumimoji="0" lang="en-US" altLang="en-US" sz="1050" b="0" i="0" u="none" strike="noStrike" cap="none" normalizeH="0" baseline="0" dirty="0">
                <a:ln>
                  <a:noFill/>
                </a:ln>
                <a:solidFill>
                  <a:schemeClr val="tx1"/>
                </a:solidFill>
                <a:effectLst/>
                <a:latin typeface="Arial" panose="020B0604020202020204" pitchFamily="34" charset="0"/>
              </a:rPr>
              <a:t>Support intelligent decision-making in smart grids using real-time forecasting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1" i="0" u="none" strike="noStrike" cap="none" normalizeH="0" baseline="0" dirty="0">
                <a:ln>
                  <a:noFill/>
                </a:ln>
                <a:solidFill>
                  <a:schemeClr val="tx1"/>
                </a:solidFill>
                <a:effectLst/>
                <a:latin typeface="Arial" panose="020B0604020202020204" pitchFamily="34" charset="0"/>
              </a:rPr>
              <a:t>Assist in Planning and Infrastructure Development</a:t>
            </a:r>
            <a:br>
              <a:rPr kumimoji="0" lang="en-US" altLang="en-US" sz="1050" b="0" i="0" u="none" strike="noStrike" cap="none" normalizeH="0" baseline="0" dirty="0">
                <a:ln>
                  <a:noFill/>
                </a:ln>
                <a:solidFill>
                  <a:schemeClr val="tx1"/>
                </a:solidFill>
                <a:effectLst/>
                <a:latin typeface="Arial" panose="020B0604020202020204" pitchFamily="34" charset="0"/>
              </a:rPr>
            </a:br>
            <a:r>
              <a:rPr kumimoji="0" lang="en-US" altLang="en-US" sz="1050" b="0" i="0" u="none" strike="noStrike" cap="none" normalizeH="0" baseline="0" dirty="0">
                <a:ln>
                  <a:noFill/>
                </a:ln>
                <a:solidFill>
                  <a:schemeClr val="tx1"/>
                </a:solidFill>
                <a:effectLst/>
                <a:latin typeface="Arial" panose="020B0604020202020204" pitchFamily="34" charset="0"/>
              </a:rPr>
              <a:t>Guide long-term investments in wind farms and transmission systems.</a:t>
            </a:r>
          </a:p>
        </p:txBody>
      </p:sp>
    </p:spTree>
    <p:extLst>
      <p:ext uri="{BB962C8B-B14F-4D97-AF65-F5344CB8AC3E}">
        <p14:creationId xmlns:p14="http://schemas.microsoft.com/office/powerpoint/2010/main" val="2932052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82138" y="1012800"/>
            <a:ext cx="6102626" cy="400110"/>
          </a:xfrm>
          <a:prstGeom prst="rect">
            <a:avLst/>
          </a:prstGeom>
          <a:noFill/>
        </p:spPr>
        <p:txBody>
          <a:bodyPr wrap="square">
            <a:spAutoFit/>
          </a:bodyPr>
          <a:lstStyle/>
          <a:p>
            <a:r>
              <a:rPr lang="en-US" sz="1800" b="1" dirty="0">
                <a:solidFill>
                  <a:srgbClr val="213163"/>
                </a:solidFill>
              </a:rPr>
              <a:t>T</a:t>
            </a:r>
            <a:r>
              <a:rPr lang="en-IN" sz="2000" b="1" dirty="0" err="1">
                <a:solidFill>
                  <a:srgbClr val="213163"/>
                </a:solidFill>
              </a:rPr>
              <a:t>ools</a:t>
            </a:r>
            <a:r>
              <a:rPr lang="en-IN" sz="2000" b="1" dirty="0">
                <a:solidFill>
                  <a:srgbClr val="213163"/>
                </a:solidFill>
              </a:rPr>
              <a:t> and Technology used </a:t>
            </a:r>
          </a:p>
        </p:txBody>
      </p:sp>
      <p:sp>
        <p:nvSpPr>
          <p:cNvPr id="2" name="TextBox 1">
            <a:extLst>
              <a:ext uri="{FF2B5EF4-FFF2-40B4-BE49-F238E27FC236}">
                <a16:creationId xmlns:a16="http://schemas.microsoft.com/office/drawing/2014/main" id="{F768D40B-4992-BF82-5AD6-81B2AD25F43A}"/>
              </a:ext>
            </a:extLst>
          </p:cNvPr>
          <p:cNvSpPr txBox="1"/>
          <p:nvPr/>
        </p:nvSpPr>
        <p:spPr>
          <a:xfrm>
            <a:off x="923544" y="2212848"/>
            <a:ext cx="7790688" cy="1528945"/>
          </a:xfrm>
          <a:prstGeom prst="rect">
            <a:avLst/>
          </a:prstGeom>
          <a:noFill/>
        </p:spPr>
        <p:txBody>
          <a:bodyPr wrap="square" rtlCol="0">
            <a:spAutoFit/>
          </a:bodyPr>
          <a:lstStyle/>
          <a:p>
            <a:r>
              <a:rPr lang="en-US" dirty="0"/>
              <a:t>Language used: Python</a:t>
            </a:r>
          </a:p>
          <a:p>
            <a:r>
              <a:rPr lang="en-US" dirty="0"/>
              <a:t>Environment : Jupyter notebook or Python IDLE</a:t>
            </a:r>
          </a:p>
          <a:p>
            <a:r>
              <a:rPr lang="en-US" dirty="0"/>
              <a:t>Dataset  : </a:t>
            </a:r>
            <a:r>
              <a:rPr lang="en-US" dirty="0">
                <a:hlinkClick r:id="rId2"/>
              </a:rPr>
              <a:t>https://www.kaggle.com/datasets/mubashirrahim/wind-power-generation-data-forecasting?select=Location2.csv</a:t>
            </a:r>
            <a:br>
              <a:rPr lang="en-US" dirty="0"/>
            </a:br>
            <a:r>
              <a:rPr lang="en-US" dirty="0"/>
              <a:t>other tools: scikit learn, NumPy , Pandas</a:t>
            </a:r>
            <a:endParaRPr lang="en-IN" dirty="0"/>
          </a:p>
        </p:txBody>
      </p:sp>
    </p:spTree>
    <p:extLst>
      <p:ext uri="{BB962C8B-B14F-4D97-AF65-F5344CB8AC3E}">
        <p14:creationId xmlns:p14="http://schemas.microsoft.com/office/powerpoint/2010/main" val="564571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68356" y="1014656"/>
            <a:ext cx="6102626" cy="400110"/>
          </a:xfrm>
          <a:prstGeom prst="rect">
            <a:avLst/>
          </a:prstGeom>
          <a:noFill/>
        </p:spPr>
        <p:txBody>
          <a:bodyPr wrap="square">
            <a:spAutoFit/>
          </a:bodyPr>
          <a:lstStyle/>
          <a:p>
            <a:r>
              <a:rPr lang="en-US" sz="2000" b="1" dirty="0">
                <a:solidFill>
                  <a:srgbClr val="213163"/>
                </a:solidFill>
              </a:rPr>
              <a:t>Methodology</a:t>
            </a:r>
            <a:r>
              <a:rPr lang="en-US" sz="1800" b="1" dirty="0">
                <a:solidFill>
                  <a:srgbClr val="213163"/>
                </a:solidFill>
              </a:rPr>
              <a:t> </a:t>
            </a:r>
            <a:endParaRPr lang="en-IN" sz="1800" dirty="0">
              <a:solidFill>
                <a:srgbClr val="213163"/>
              </a:solidFill>
            </a:endParaRPr>
          </a:p>
        </p:txBody>
      </p:sp>
      <p:sp>
        <p:nvSpPr>
          <p:cNvPr id="2" name="TextBox 1">
            <a:extLst>
              <a:ext uri="{FF2B5EF4-FFF2-40B4-BE49-F238E27FC236}">
                <a16:creationId xmlns:a16="http://schemas.microsoft.com/office/drawing/2014/main" id="{64777163-00A0-4540-231D-261F298EFBBE}"/>
              </a:ext>
            </a:extLst>
          </p:cNvPr>
          <p:cNvSpPr txBox="1"/>
          <p:nvPr/>
        </p:nvSpPr>
        <p:spPr>
          <a:xfrm>
            <a:off x="524388" y="1570798"/>
            <a:ext cx="5931276" cy="537839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1" i="0" u="none" strike="noStrike" cap="none" normalizeH="0" baseline="0" dirty="0">
                <a:ln>
                  <a:noFill/>
                </a:ln>
                <a:solidFill>
                  <a:schemeClr val="tx1"/>
                </a:solidFill>
                <a:effectLst/>
                <a:latin typeface="Arial" panose="020B0604020202020204" pitchFamily="34" charset="0"/>
              </a:rPr>
              <a:t>Data Collection</a:t>
            </a:r>
            <a:endParaRPr kumimoji="0" lang="en-US" altLang="en-US" sz="105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Gather historical wind speed, wind direction, temperature, and power output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1" i="0" u="none" strike="noStrike" cap="none" normalizeH="0" baseline="0" dirty="0">
                <a:ln>
                  <a:noFill/>
                </a:ln>
                <a:solidFill>
                  <a:schemeClr val="tx1"/>
                </a:solidFill>
                <a:effectLst/>
                <a:latin typeface="Arial" panose="020B0604020202020204" pitchFamily="34" charset="0"/>
              </a:rPr>
              <a:t>Data Preprocessing</a:t>
            </a:r>
            <a:endParaRPr kumimoji="0" lang="en-US" altLang="en-US" sz="105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Handle missing values, remove outliers.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Normalize/scale features.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Convert time series data into supervised learning format (features vs. target).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1" i="0" u="none" strike="noStrike" cap="none" normalizeH="0" baseline="0" dirty="0">
                <a:ln>
                  <a:noFill/>
                </a:ln>
                <a:solidFill>
                  <a:schemeClr val="tx1"/>
                </a:solidFill>
                <a:effectLst/>
                <a:latin typeface="Arial" panose="020B0604020202020204" pitchFamily="34" charset="0"/>
              </a:rPr>
              <a:t>Feature Engineering</a:t>
            </a:r>
            <a:endParaRPr kumimoji="0" lang="en-US" altLang="en-US" sz="105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Create relevant features such as lag values, rolling averages, wind power curves, etc.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Include temporal features (hour, day, season) and external weather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1" i="0" u="none" strike="noStrike" cap="none" normalizeH="0" baseline="0" dirty="0">
                <a:ln>
                  <a:noFill/>
                </a:ln>
                <a:solidFill>
                  <a:schemeClr val="tx1"/>
                </a:solidFill>
                <a:effectLst/>
                <a:latin typeface="Arial" panose="020B0604020202020204" pitchFamily="34" charset="0"/>
              </a:rPr>
              <a:t>Model Selection</a:t>
            </a:r>
            <a:endParaRPr kumimoji="0" lang="en-US" altLang="en-US" sz="105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Choose appropriate models for forecasting:</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50" b="1" i="0" u="none" strike="noStrike" cap="none" normalizeH="0" baseline="0" dirty="0">
                <a:ln>
                  <a:noFill/>
                </a:ln>
                <a:solidFill>
                  <a:schemeClr val="tx1"/>
                </a:solidFill>
                <a:effectLst/>
                <a:latin typeface="Arial" panose="020B0604020202020204" pitchFamily="34" charset="0"/>
              </a:rPr>
              <a:t>Statistical Models</a:t>
            </a:r>
            <a:r>
              <a:rPr kumimoji="0" lang="en-US" altLang="en-US" sz="1050" b="0" i="0" u="none" strike="noStrike" cap="none" normalizeH="0" baseline="0" dirty="0">
                <a:ln>
                  <a:noFill/>
                </a:ln>
                <a:solidFill>
                  <a:schemeClr val="tx1"/>
                </a:solidFill>
                <a:effectLst/>
                <a:latin typeface="Arial" panose="020B0604020202020204" pitchFamily="34" charset="0"/>
              </a:rPr>
              <a:t>: ARIMA, SARIMA</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50" b="1" i="0" u="none" strike="noStrike" cap="none" normalizeH="0" baseline="0" dirty="0">
                <a:ln>
                  <a:noFill/>
                </a:ln>
                <a:solidFill>
                  <a:schemeClr val="tx1"/>
                </a:solidFill>
                <a:effectLst/>
                <a:latin typeface="Arial" panose="020B0604020202020204" pitchFamily="34" charset="0"/>
              </a:rPr>
              <a:t>Machine Learning</a:t>
            </a:r>
            <a:r>
              <a:rPr kumimoji="0" lang="en-US" altLang="en-US" sz="1050" b="0" i="0" u="none" strike="noStrike" cap="none" normalizeH="0" baseline="0" dirty="0">
                <a:ln>
                  <a:noFill/>
                </a:ln>
                <a:solidFill>
                  <a:schemeClr val="tx1"/>
                </a:solidFill>
                <a:effectLst/>
                <a:latin typeface="Arial" panose="020B0604020202020204" pitchFamily="34" charset="0"/>
              </a:rPr>
              <a:t>: Random Forest, </a:t>
            </a:r>
            <a:r>
              <a:rPr kumimoji="0" lang="en-US" altLang="en-US" sz="1050" b="0" i="0" u="none" strike="noStrike" cap="none" normalizeH="0" baseline="0" dirty="0" err="1">
                <a:ln>
                  <a:noFill/>
                </a:ln>
                <a:solidFill>
                  <a:schemeClr val="tx1"/>
                </a:solidFill>
                <a:effectLst/>
                <a:latin typeface="Arial" panose="020B0604020202020204" pitchFamily="34" charset="0"/>
              </a:rPr>
              <a:t>XGBoost</a:t>
            </a:r>
            <a:r>
              <a:rPr kumimoji="0" lang="en-US" altLang="en-US" sz="1050" b="0" i="0" u="none" strike="noStrike" cap="none" normalizeH="0" baseline="0" dirty="0">
                <a:ln>
                  <a:noFill/>
                </a:ln>
                <a:solidFill>
                  <a:schemeClr val="tx1"/>
                </a:solidFill>
                <a:effectLst/>
                <a:latin typeface="Arial" panose="020B0604020202020204" pitchFamily="34" charset="0"/>
              </a:rPr>
              <a:t>, SVR</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50" b="1" i="0" u="none" strike="noStrike" cap="none" normalizeH="0" baseline="0" dirty="0">
                <a:ln>
                  <a:noFill/>
                </a:ln>
                <a:solidFill>
                  <a:schemeClr val="tx1"/>
                </a:solidFill>
                <a:effectLst/>
                <a:latin typeface="Arial" panose="020B0604020202020204" pitchFamily="34" charset="0"/>
              </a:rPr>
              <a:t>Deep Learning</a:t>
            </a:r>
            <a:r>
              <a:rPr kumimoji="0" lang="en-US" altLang="en-US" sz="1050" b="0" i="0" u="none" strike="noStrike" cap="none" normalizeH="0" baseline="0" dirty="0">
                <a:ln>
                  <a:noFill/>
                </a:ln>
                <a:solidFill>
                  <a:schemeClr val="tx1"/>
                </a:solidFill>
                <a:effectLst/>
                <a:latin typeface="Arial" panose="020B0604020202020204" pitchFamily="34" charset="0"/>
              </a:rPr>
              <a:t>: LSTM, GRU</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1" i="0" u="none" strike="noStrike" cap="none" normalizeH="0" baseline="0" dirty="0">
                <a:ln>
                  <a:noFill/>
                </a:ln>
                <a:solidFill>
                  <a:schemeClr val="tx1"/>
                </a:solidFill>
                <a:effectLst/>
                <a:latin typeface="Arial" panose="020B0604020202020204" pitchFamily="34" charset="0"/>
              </a:rPr>
              <a:t>Model Training and Validation</a:t>
            </a:r>
            <a:endParaRPr kumimoji="0" lang="en-US" altLang="en-US" sz="105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Split data into training and test sets.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Use cross-validation for reliable model performance assessment.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Tune hyperparameters using </a:t>
            </a:r>
            <a:r>
              <a:rPr kumimoji="0" lang="en-US" altLang="en-US" sz="1050" b="0" i="0" u="none" strike="noStrike" cap="none" normalizeH="0" baseline="0" dirty="0" err="1">
                <a:ln>
                  <a:noFill/>
                </a:ln>
                <a:solidFill>
                  <a:schemeClr val="tx1"/>
                </a:solidFill>
                <a:effectLst/>
                <a:latin typeface="Arial" panose="020B0604020202020204" pitchFamily="34" charset="0"/>
              </a:rPr>
              <a:t>GridSearchCV</a:t>
            </a:r>
            <a:r>
              <a:rPr kumimoji="0" lang="en-US" altLang="en-US" sz="1050" b="0" i="0" u="none" strike="noStrike" cap="none" normalizeH="0" baseline="0" dirty="0">
                <a:ln>
                  <a:noFill/>
                </a:ln>
                <a:solidFill>
                  <a:schemeClr val="tx1"/>
                </a:solidFill>
                <a:effectLst/>
                <a:latin typeface="Arial" panose="020B0604020202020204" pitchFamily="34" charset="0"/>
              </a:rPr>
              <a:t> or similar.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1" i="0" u="none" strike="noStrike" cap="none" normalizeH="0" baseline="0" dirty="0">
                <a:ln>
                  <a:noFill/>
                </a:ln>
                <a:solidFill>
                  <a:schemeClr val="tx1"/>
                </a:solidFill>
                <a:effectLst/>
                <a:latin typeface="Arial" panose="020B0604020202020204" pitchFamily="34" charset="0"/>
              </a:rPr>
              <a:t>Forecasting and Evaluation</a:t>
            </a:r>
            <a:endParaRPr kumimoji="0" lang="en-US" altLang="en-US" sz="105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Predict wind power output using test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Evaluate performance using MAE, MSE, RMSE, and R² Score.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1" i="0" u="none" strike="noStrike" cap="none" normalizeH="0" baseline="0" dirty="0">
                <a:ln>
                  <a:noFill/>
                </a:ln>
                <a:solidFill>
                  <a:schemeClr val="tx1"/>
                </a:solidFill>
                <a:effectLst/>
                <a:latin typeface="Arial" panose="020B0604020202020204" pitchFamily="34" charset="0"/>
              </a:rPr>
              <a:t>Data Collection</a:t>
            </a:r>
            <a:endParaRPr kumimoji="0" lang="en-US" altLang="en-US" sz="105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Gather historical wind speed, wind direction, temperature, and power output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Sources: Weather stations, wind turbines, meteorological APIs.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1" i="0" u="none" strike="noStrike" cap="none" normalizeH="0" baseline="0" dirty="0">
                <a:ln>
                  <a:noFill/>
                </a:ln>
                <a:solidFill>
                  <a:schemeClr val="tx1"/>
                </a:solidFill>
                <a:effectLst/>
                <a:latin typeface="Arial" panose="020B0604020202020204" pitchFamily="34" charset="0"/>
              </a:rPr>
              <a:t>Data Preprocessing</a:t>
            </a:r>
            <a:endParaRPr kumimoji="0" lang="en-US" altLang="en-US" sz="105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Handle missing values, remove outliers.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Normalize/scale features.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Convert time series data into supervised learning format (features vs. target).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1" i="0" u="none" strike="noStrike" cap="none" normalizeH="0" baseline="0" dirty="0">
                <a:ln>
                  <a:noFill/>
                </a:ln>
                <a:solidFill>
                  <a:schemeClr val="tx1"/>
                </a:solidFill>
                <a:effectLst/>
                <a:latin typeface="Arial" panose="020B0604020202020204" pitchFamily="34" charset="0"/>
              </a:rPr>
              <a:t>Feature Engineering</a:t>
            </a:r>
            <a:endParaRPr kumimoji="0" lang="en-US" altLang="en-US" sz="105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Create relevant features such as lag values, rolling averages, wind power curves, etc.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Include temporal features (hour, day, season) and external weather data.</a:t>
            </a:r>
          </a:p>
          <a:p>
            <a:endParaRPr lang="en-IN" sz="1800" dirty="0"/>
          </a:p>
        </p:txBody>
      </p:sp>
    </p:spTree>
    <p:extLst>
      <p:ext uri="{BB962C8B-B14F-4D97-AF65-F5344CB8AC3E}">
        <p14:creationId xmlns:p14="http://schemas.microsoft.com/office/powerpoint/2010/main" val="2706790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Problem Statement:  </a:t>
            </a:r>
            <a:endParaRPr lang="en-IN" sz="2000" b="1" dirty="0">
              <a:solidFill>
                <a:srgbClr val="213163"/>
              </a:solidFill>
            </a:endParaRPr>
          </a:p>
        </p:txBody>
      </p:sp>
      <p:sp>
        <p:nvSpPr>
          <p:cNvPr id="4" name="TextBox 3">
            <a:extLst>
              <a:ext uri="{FF2B5EF4-FFF2-40B4-BE49-F238E27FC236}">
                <a16:creationId xmlns:a16="http://schemas.microsoft.com/office/drawing/2014/main" id="{4522CE91-AED9-E6A2-4B36-6C8960E4FC72}"/>
              </a:ext>
            </a:extLst>
          </p:cNvPr>
          <p:cNvSpPr txBox="1"/>
          <p:nvPr/>
        </p:nvSpPr>
        <p:spPr>
          <a:xfrm>
            <a:off x="964692" y="2145461"/>
            <a:ext cx="6099048" cy="3540200"/>
          </a:xfrm>
          <a:prstGeom prst="rect">
            <a:avLst/>
          </a:prstGeom>
          <a:noFill/>
        </p:spPr>
        <p:txBody>
          <a:bodyPr wrap="square">
            <a:spAutoFit/>
          </a:bodyPr>
          <a:lstStyle/>
          <a:p>
            <a:r>
              <a:rPr lang="en-US" dirty="0"/>
              <a:t>Wind energy is a key renewable resource, but its intermittent and unpredictable nature makes it challenging to integrate into the power grid efficiently. Accurate forecasting of wind power generation is essential for: Grid stability Energy trading decisions Optimizing turbine operations Reducing reliance on fossil fuels</a:t>
            </a:r>
          </a:p>
          <a:p>
            <a:endParaRPr lang="en-US" dirty="0"/>
          </a:p>
          <a:p>
            <a:r>
              <a:rPr lang="en-US" sz="2000" b="1" dirty="0"/>
              <a:t>Objective</a:t>
            </a:r>
            <a:r>
              <a:rPr lang="en-US" dirty="0"/>
              <a:t> : To develop a reliable forecasting model that can accurately predict future wind power generation using historical weather and turbine data, leveraging machine learning or statistical techniques.</a:t>
            </a:r>
            <a:endParaRPr lang="en-IN" dirty="0"/>
          </a:p>
        </p:txBody>
      </p:sp>
    </p:spTree>
    <p:extLst>
      <p:ext uri="{BB962C8B-B14F-4D97-AF65-F5344CB8AC3E}">
        <p14:creationId xmlns:p14="http://schemas.microsoft.com/office/powerpoint/2010/main" val="31965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Solution:  </a:t>
            </a:r>
            <a:endParaRPr lang="en-IN" sz="2000" b="1" dirty="0">
              <a:solidFill>
                <a:srgbClr val="213163"/>
              </a:solidFill>
            </a:endParaRPr>
          </a:p>
        </p:txBody>
      </p:sp>
      <p:sp>
        <p:nvSpPr>
          <p:cNvPr id="4" name="TextBox 3">
            <a:extLst>
              <a:ext uri="{FF2B5EF4-FFF2-40B4-BE49-F238E27FC236}">
                <a16:creationId xmlns:a16="http://schemas.microsoft.com/office/drawing/2014/main" id="{C76EDF45-BEAC-67D7-9CAD-A96534254644}"/>
              </a:ext>
            </a:extLst>
          </p:cNvPr>
          <p:cNvSpPr txBox="1"/>
          <p:nvPr/>
        </p:nvSpPr>
        <p:spPr>
          <a:xfrm>
            <a:off x="781812" y="1599676"/>
            <a:ext cx="6099048" cy="3970318"/>
          </a:xfrm>
          <a:prstGeom prst="rect">
            <a:avLst/>
          </a:prstGeom>
          <a:noFill/>
        </p:spPr>
        <p:txBody>
          <a:bodyPr wrap="square">
            <a:spAutoFit/>
          </a:bodyPr>
          <a:lstStyle/>
          <a:p>
            <a:r>
              <a:rPr lang="en-IN" sz="1400" dirty="0"/>
              <a:t>Data Collection Gather historical wind speed, temperature, humidity, and turbine output data from reliable sources.</a:t>
            </a:r>
          </a:p>
          <a:p>
            <a:r>
              <a:rPr lang="en-IN" sz="1400" dirty="0"/>
              <a:t>Data Preprocessing Clean, normalize, and transform the raw data to make it suitable for </a:t>
            </a:r>
            <a:r>
              <a:rPr lang="en-IN" sz="1400" dirty="0" err="1"/>
              <a:t>modeling</a:t>
            </a:r>
            <a:r>
              <a:rPr lang="en-IN" sz="1400" dirty="0"/>
              <a:t>.</a:t>
            </a:r>
          </a:p>
          <a:p>
            <a:r>
              <a:rPr lang="en-IN" sz="1400" dirty="0"/>
              <a:t>Feature Engineering Identify and create relevant features (e.g., wind speed squared, lag values) that influence power generation.</a:t>
            </a:r>
          </a:p>
          <a:p>
            <a:r>
              <a:rPr lang="en-IN" sz="1400" dirty="0"/>
              <a:t>Model Selection Choose appropriate machine learning models such as: Linear Regression Random Forest </a:t>
            </a:r>
            <a:r>
              <a:rPr lang="en-IN" sz="1400" dirty="0" err="1"/>
              <a:t>XGBoostLSTM</a:t>
            </a:r>
            <a:r>
              <a:rPr lang="en-IN" sz="1400" dirty="0"/>
              <a:t> (for time series)Model Training &amp; </a:t>
            </a:r>
            <a:r>
              <a:rPr lang="en-IN" sz="1400" dirty="0" err="1"/>
              <a:t>TestingTrain</a:t>
            </a:r>
            <a:r>
              <a:rPr lang="en-IN" sz="1400" dirty="0"/>
              <a:t> models using historical data and evaluate them using MAE, MSE, and R² Score. </a:t>
            </a:r>
          </a:p>
          <a:p>
            <a:r>
              <a:rPr lang="en-IN" sz="1400" dirty="0"/>
              <a:t>Hyperparameter Tuning Use </a:t>
            </a:r>
            <a:r>
              <a:rPr lang="en-IN" sz="1400" dirty="0" err="1"/>
              <a:t>GridSearch</a:t>
            </a:r>
            <a:r>
              <a:rPr lang="en-IN" sz="1400" dirty="0"/>
              <a:t> CV or Randomized </a:t>
            </a:r>
            <a:r>
              <a:rPr lang="en-IN" sz="1400" dirty="0" err="1"/>
              <a:t>SearchCV</a:t>
            </a:r>
            <a:r>
              <a:rPr lang="en-IN" sz="1400" dirty="0"/>
              <a:t> to find the best model parameters. </a:t>
            </a:r>
          </a:p>
          <a:p>
            <a:r>
              <a:rPr lang="en-IN" sz="1400" dirty="0"/>
              <a:t>Model Evaluation Compare model performances and select the most accurate one.</a:t>
            </a:r>
          </a:p>
          <a:p>
            <a:r>
              <a:rPr lang="en-IN" sz="1400" dirty="0"/>
              <a:t>Forecasting Use the best-performing model to predict future wind power generation.</a:t>
            </a:r>
          </a:p>
          <a:p>
            <a:r>
              <a:rPr lang="en-IN" sz="1400" dirty="0"/>
              <a:t>Visualization Present forecast results using graphs and dashboards for better interpretability.</a:t>
            </a:r>
          </a:p>
        </p:txBody>
      </p:sp>
    </p:spTree>
    <p:extLst>
      <p:ext uri="{BB962C8B-B14F-4D97-AF65-F5344CB8AC3E}">
        <p14:creationId xmlns:p14="http://schemas.microsoft.com/office/powerpoint/2010/main" val="3002968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pic>
        <p:nvPicPr>
          <p:cNvPr id="4" name="Picture 3">
            <a:extLst>
              <a:ext uri="{FF2B5EF4-FFF2-40B4-BE49-F238E27FC236}">
                <a16:creationId xmlns:a16="http://schemas.microsoft.com/office/drawing/2014/main" id="{BF37D4DA-F468-4F8D-665D-46A8B3098029}"/>
              </a:ext>
            </a:extLst>
          </p:cNvPr>
          <p:cNvPicPr>
            <a:picLocks noChangeAspect="1"/>
          </p:cNvPicPr>
          <p:nvPr/>
        </p:nvPicPr>
        <p:blipFill>
          <a:blip r:embed="rId2"/>
          <a:stretch>
            <a:fillRect/>
          </a:stretch>
        </p:blipFill>
        <p:spPr>
          <a:xfrm>
            <a:off x="255104" y="1454522"/>
            <a:ext cx="4405542" cy="2542494"/>
          </a:xfrm>
          <a:prstGeom prst="rect">
            <a:avLst/>
          </a:prstGeom>
        </p:spPr>
      </p:pic>
      <p:pic>
        <p:nvPicPr>
          <p:cNvPr id="6" name="Picture 5">
            <a:extLst>
              <a:ext uri="{FF2B5EF4-FFF2-40B4-BE49-F238E27FC236}">
                <a16:creationId xmlns:a16="http://schemas.microsoft.com/office/drawing/2014/main" id="{B25B2B61-A8C7-4737-75FF-2C58ACB16DCC}"/>
              </a:ext>
            </a:extLst>
          </p:cNvPr>
          <p:cNvPicPr>
            <a:picLocks noChangeAspect="1"/>
          </p:cNvPicPr>
          <p:nvPr/>
        </p:nvPicPr>
        <p:blipFill>
          <a:blip r:embed="rId3"/>
          <a:stretch>
            <a:fillRect/>
          </a:stretch>
        </p:blipFill>
        <p:spPr>
          <a:xfrm>
            <a:off x="5390147" y="1254467"/>
            <a:ext cx="5226371" cy="2742549"/>
          </a:xfrm>
          <a:prstGeom prst="rect">
            <a:avLst/>
          </a:prstGeom>
        </p:spPr>
      </p:pic>
      <p:pic>
        <p:nvPicPr>
          <p:cNvPr id="8" name="Picture 7">
            <a:extLst>
              <a:ext uri="{FF2B5EF4-FFF2-40B4-BE49-F238E27FC236}">
                <a16:creationId xmlns:a16="http://schemas.microsoft.com/office/drawing/2014/main" id="{BC4CB898-CF18-1FFC-6F61-D95E6177A97A}"/>
              </a:ext>
            </a:extLst>
          </p:cNvPr>
          <p:cNvPicPr>
            <a:picLocks noChangeAspect="1"/>
          </p:cNvPicPr>
          <p:nvPr/>
        </p:nvPicPr>
        <p:blipFill>
          <a:blip r:embed="rId4"/>
          <a:stretch>
            <a:fillRect/>
          </a:stretch>
        </p:blipFill>
        <p:spPr>
          <a:xfrm>
            <a:off x="255104" y="4210286"/>
            <a:ext cx="4866573" cy="2318852"/>
          </a:xfrm>
          <a:prstGeom prst="rect">
            <a:avLst/>
          </a:prstGeom>
        </p:spPr>
      </p:pic>
      <p:pic>
        <p:nvPicPr>
          <p:cNvPr id="10" name="Picture 9">
            <a:extLst>
              <a:ext uri="{FF2B5EF4-FFF2-40B4-BE49-F238E27FC236}">
                <a16:creationId xmlns:a16="http://schemas.microsoft.com/office/drawing/2014/main" id="{58C27FA0-7A68-C6E2-88E9-819FF44FE45A}"/>
              </a:ext>
            </a:extLst>
          </p:cNvPr>
          <p:cNvPicPr>
            <a:picLocks noChangeAspect="1"/>
          </p:cNvPicPr>
          <p:nvPr/>
        </p:nvPicPr>
        <p:blipFill>
          <a:blip r:embed="rId5"/>
          <a:stretch>
            <a:fillRect/>
          </a:stretch>
        </p:blipFill>
        <p:spPr>
          <a:xfrm>
            <a:off x="6096000" y="4210286"/>
            <a:ext cx="4368918" cy="2318852"/>
          </a:xfrm>
          <a:prstGeom prst="rect">
            <a:avLst/>
          </a:prstGeom>
        </p:spPr>
      </p:pic>
    </p:spTree>
    <p:extLst>
      <p:ext uri="{BB962C8B-B14F-4D97-AF65-F5344CB8AC3E}">
        <p14:creationId xmlns:p14="http://schemas.microsoft.com/office/powerpoint/2010/main" val="1635949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49087" y="988151"/>
            <a:ext cx="6102626" cy="400110"/>
          </a:xfrm>
          <a:prstGeom prst="rect">
            <a:avLst/>
          </a:prstGeom>
          <a:noFill/>
        </p:spPr>
        <p:txBody>
          <a:bodyPr wrap="square">
            <a:spAutoFit/>
          </a:bodyPr>
          <a:lstStyle/>
          <a:p>
            <a:r>
              <a:rPr lang="en-US" sz="2000" b="1" dirty="0">
                <a:solidFill>
                  <a:srgbClr val="213163"/>
                </a:solidFill>
              </a:rPr>
              <a:t>Conclusion:</a:t>
            </a:r>
            <a:r>
              <a:rPr lang="en-US" sz="1800" b="1" dirty="0">
                <a:solidFill>
                  <a:srgbClr val="213163"/>
                </a:solidFill>
              </a:rPr>
              <a:t>  </a:t>
            </a:r>
            <a:endParaRPr lang="en-IN" sz="1800" dirty="0">
              <a:solidFill>
                <a:srgbClr val="213163"/>
              </a:solidFill>
            </a:endParaRPr>
          </a:p>
        </p:txBody>
      </p:sp>
      <p:sp>
        <p:nvSpPr>
          <p:cNvPr id="4" name="TextBox 3">
            <a:extLst>
              <a:ext uri="{FF2B5EF4-FFF2-40B4-BE49-F238E27FC236}">
                <a16:creationId xmlns:a16="http://schemas.microsoft.com/office/drawing/2014/main" id="{9D1EC27C-92F2-8FC1-0CCD-3B70F13F7F79}"/>
              </a:ext>
            </a:extLst>
          </p:cNvPr>
          <p:cNvSpPr txBox="1"/>
          <p:nvPr/>
        </p:nvSpPr>
        <p:spPr>
          <a:xfrm>
            <a:off x="1591217" y="1204867"/>
            <a:ext cx="6104020" cy="5570756"/>
          </a:xfrm>
          <a:prstGeom prst="rect">
            <a:avLst/>
          </a:prstGeom>
          <a:noFill/>
        </p:spPr>
        <p:txBody>
          <a:bodyPr wrap="square">
            <a:spAutoFit/>
          </a:bodyPr>
          <a:lstStyle/>
          <a:p>
            <a:r>
              <a:rPr lang="en-US" sz="2000" b="1" dirty="0"/>
              <a:t>This project:</a:t>
            </a:r>
          </a:p>
          <a:p>
            <a:r>
              <a:rPr lang="en-US" sz="1200" dirty="0"/>
              <a:t>wind power generation forecasting to enhance renewable energy systems' reliability and performance.</a:t>
            </a:r>
          </a:p>
          <a:p>
            <a:r>
              <a:rPr lang="en-US" sz="1200" dirty="0"/>
              <a:t> Based on a follow-up review of actual wind data and both ARIMA and regression analyses, we were able to make a meaningful prediction of future wind power generation based on the measured wind data. Forecasting is beneficial towards maintaining energy balance, optimizing  grid stability and decreased reliance on the higher GHG emitting fossil fuel technologies.</a:t>
            </a:r>
          </a:p>
          <a:p>
            <a:endParaRPr lang="en-US" sz="1200" dirty="0"/>
          </a:p>
          <a:p>
            <a:r>
              <a:rPr lang="en-US" sz="1200" dirty="0"/>
              <a:t>Our study demonstrated data-driven forecasting methods have an important role to play in energy operation and planning decision making. As exemplified in our empirical paper, precise wind generation predictions can avoid incapacity to deliver wind power resulting from failure to guide avoided shortages, as well as ensuring optimal usage and sustainability of wind energy resources. A consideration with these prediction capabilities is deployable through incorporating computational prediction models with innovative energy management systems that help enable lower emissions, more sustainable, cost-effective energy services, among others.</a:t>
            </a:r>
          </a:p>
          <a:p>
            <a:endParaRPr lang="en-US" sz="1200" dirty="0"/>
          </a:p>
          <a:p>
            <a:r>
              <a:rPr lang="en-US" sz="1200" dirty="0"/>
              <a:t>In the future, wherever possible, integrating real-time data, computationally efficient machine learning techniques, and synergistic models, will likely enhance accuracy. Overall, future wind power forecasting is a worthwhile initiative that is associated with advancing clean energy systems and development of smarter and greener power infrastructure.</a:t>
            </a:r>
          </a:p>
          <a:p>
            <a:endParaRPr lang="en-US" sz="1200" dirty="0"/>
          </a:p>
          <a:p>
            <a:r>
              <a:rPr lang="en-US" sz="1600" dirty="0"/>
              <a:t>GitHub link: </a:t>
            </a:r>
            <a:r>
              <a:rPr lang="en-US" sz="1600" dirty="0">
                <a:hlinkClick r:id="rId2"/>
              </a:rPr>
              <a:t>https://github.com/adarigunakaushik2905/Wind_Power_Generation_Forecasting.git</a:t>
            </a:r>
            <a:endParaRPr lang="en-IN" sz="1600" dirty="0"/>
          </a:p>
        </p:txBody>
      </p:sp>
    </p:spTree>
    <p:extLst>
      <p:ext uri="{BB962C8B-B14F-4D97-AF65-F5344CB8AC3E}">
        <p14:creationId xmlns:p14="http://schemas.microsoft.com/office/powerpoint/2010/main" val="151988358"/>
      </p:ext>
    </p:extLst>
  </p:cSld>
  <p:clrMapOvr>
    <a:masterClrMapping/>
  </p:clrMapOvr>
</p:sld>
</file>

<file path=ppt/theme/theme1.xml><?xml version="1.0" encoding="utf-8"?>
<a:theme xmlns:a="http://schemas.openxmlformats.org/drawingml/2006/main" name="Session 01 Design Thinking &amp; Critical Thinking">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ession 01 Design Thinking &amp; Critical Thinking" id="{1DE73F69-F87A-4ED3-81C1-82D2BA622E0C}" vid="{37568650-F724-47C7-905E-9640F8017497}"/>
    </a:ext>
  </a:extLst>
</a:theme>
</file>

<file path=docProps/app.xml><?xml version="1.0" encoding="utf-8"?>
<Properties xmlns="http://schemas.openxmlformats.org/officeDocument/2006/extended-properties" xmlns:vt="http://schemas.openxmlformats.org/officeDocument/2006/docPropsVTypes">
  <Template>Session 01 Design Thinking &amp; Critical Thinking</Template>
  <TotalTime>54</TotalTime>
  <Words>967</Words>
  <Application>Microsoft Office PowerPoint</Application>
  <PresentationFormat>Widescreen</PresentationFormat>
  <Paragraphs>74</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Helvetica Neue</vt:lpstr>
      <vt:lpstr>Session 01 Design Thinking &amp; Critical Thinking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Mahesh Kurhe</dc:creator>
  <cp:lastModifiedBy>ADARI guna kaushik</cp:lastModifiedBy>
  <cp:revision>4</cp:revision>
  <dcterms:created xsi:type="dcterms:W3CDTF">2024-12-31T09:40:01Z</dcterms:created>
  <dcterms:modified xsi:type="dcterms:W3CDTF">2025-04-20T15:33:48Z</dcterms:modified>
</cp:coreProperties>
</file>